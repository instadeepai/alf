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UCB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0.42</c:v>
                </c:pt>
                <c:pt idx="1">
                  <c:v>0.58</c:v>
                </c:pt>
                <c:pt idx="2">
                  <c:v>0.71</c:v>
                </c:pt>
                <c:pt idx="3">
                  <c:v>0.8</c:v>
                </c:pt>
                <c:pt idx="4">
                  <c:v>0.86</c:v>
                </c:pt>
                <c:pt idx="5">
                  <c:v>0.89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Greedy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</c:v>
                </c:pt>
                <c:pt idx="1">
                  <c:v>0.52</c:v>
                </c:pt>
                <c:pt idx="2">
                  <c:v>0.61</c:v>
                </c:pt>
                <c:pt idx="3">
                  <c:v>0.66</c:v>
                </c:pt>
                <c:pt idx="4">
                  <c:v>0.7</c:v>
                </c:pt>
                <c:pt idx="5">
                  <c:v>0.72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64748B"/>
            </a:solidFill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</c:v>
                </c:pt>
                <c:pt idx="1">
                  <c:v>0.45</c:v>
                </c:pt>
                <c:pt idx="2">
                  <c:v>0.5</c:v>
                </c:pt>
                <c:pt idx="3">
                  <c:v>0.55</c:v>
                </c:pt>
                <c:pt idx="4">
                  <c:v>0.58</c:v>
                </c:pt>
                <c:pt idx="5">
                  <c:v>0.61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Acquisition round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188720"/>
            <a:ext cx="457200" cy="4480560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33104" y="1188720"/>
            <a:ext cx="457200" cy="3977640"/>
          </a:xfrm>
          <a:prstGeom prst="rect">
            <a:avLst/>
          </a:prstGeom>
          <a:solidFill>
            <a:srgbClr val="0D9488">
              <a:alpha val="7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87968" y="1188720"/>
            <a:ext cx="457200" cy="3474720"/>
          </a:xfrm>
          <a:prstGeom prst="rect">
            <a:avLst/>
          </a:prstGeom>
          <a:solidFill>
            <a:srgbClr val="14B8A6">
              <a:alpha val="6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42832" y="1188720"/>
            <a:ext cx="457200" cy="2971800"/>
          </a:xfrm>
          <a:prstGeom prst="rect">
            <a:avLst/>
          </a:prstGeom>
          <a:solidFill>
            <a:srgbClr val="0D9488">
              <a:alpha val="5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97696" y="1188720"/>
            <a:ext cx="457200" cy="2468880"/>
          </a:xfrm>
          <a:prstGeom prst="rect">
            <a:avLst/>
          </a:prstGeom>
          <a:solidFill>
            <a:srgbClr val="14B8A6">
              <a:alpha val="4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4663440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8" name="Shape 6"/>
          <p:cNvSpPr/>
          <p:nvPr/>
        </p:nvSpPr>
        <p:spPr>
          <a:xfrm>
            <a:off x="9893808" y="4023360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9" name="Shape 7"/>
          <p:cNvSpPr/>
          <p:nvPr/>
        </p:nvSpPr>
        <p:spPr>
          <a:xfrm>
            <a:off x="10277856" y="3566160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0" name="Shape 8"/>
          <p:cNvSpPr/>
          <p:nvPr/>
        </p:nvSpPr>
        <p:spPr>
          <a:xfrm>
            <a:off x="10661904" y="2926080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45952" y="2377440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0" y="2103120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ALF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658368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Benchmarking Layer for Active Learning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8368" y="34290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ALF the standard toolkit for sequential, active-learning benchmarks — and submit it to NeurIPS Datasets &amp; Benchmarks.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4617720"/>
            <a:ext cx="2011680" cy="411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review ·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ALF runs active-learning experiments — but can't yet compare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4206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0116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ALF has today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core: tasks, surrogate, oracle, acquisition, search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toolbox: CNN / GP / ESM-2 / Chemprop models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GFP, FLIP, ProteinGym, GuacaMol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fns: Greedy, UCB, EI, Thompson, CoreSet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Per-round metrics logged to CSV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94960" cy="4206240"/>
          </a:xfrm>
          <a:prstGeom prst="rect">
            <a:avLst/>
          </a:prstGeom>
          <a:solidFill>
            <a:srgbClr val="0B2138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783080"/>
            <a:ext cx="82296" cy="4206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0" y="2011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missing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12280" y="260604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way to sweep dataset × model × acq × seed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multi-seed aggregation or significance testing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reproducible suites or reference results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leaderboard or AL-curve plots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newcomers to add a tool and prove it wins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Active Learning Benchmarking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DOING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priorities, in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4114800"/>
          </a:xfrm>
          <a:prstGeom prst="rect">
            <a:avLst/>
          </a:prstGeom>
          <a:solidFill>
            <a:srgbClr val="12314F"/>
          </a:solidFill>
          <a:ln w="12700">
            <a:solidFill>
              <a:srgbClr val="1E436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500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76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74520" y="248716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Usable &amp; attractive to the research community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34290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run a rigorous AL benchmark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your model — get fair, seeded comparisons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&amp; leaderboards out of the box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the barrier → adoption &amp; contributions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55080" y="1874520"/>
            <a:ext cx="5486400" cy="4114800"/>
          </a:xfrm>
          <a:prstGeom prst="rect">
            <a:avLst/>
          </a:prstGeom>
          <a:solidFill>
            <a:srgbClr val="12314F"/>
          </a:solidFill>
          <a:ln w="12700">
            <a:solidFill>
              <a:srgbClr val="1E436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4884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5000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176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680960" y="24871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 to NeurIPS Datasets &amp; Benchmarks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720840" y="34290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suite + reference results = a paper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Differentiator: sequential active-learning metrics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leaderboard sustains citations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(P1) is what makes the paper land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Active Learning Benchmarking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active-learning benchmarking effortless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777240" cy="77724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23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in one line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alf-bench run config.yaml sweeps datasets, models, acquisition fns and seeds — no glue code.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61688" y="192024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2240280"/>
            <a:ext cx="777240" cy="77724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4231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your own tool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81728" y="3703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model or acquisition fn via entry-points; it's instantly benchmarkable.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74736" y="192024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4776" y="2240280"/>
            <a:ext cx="777240" cy="77724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24231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4776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Answers, not logs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94776" y="3703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curves, leaderboards and significance tests generated automatically.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Active Learning Benchmarking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differentiator: benchmark the loop, not a snapshot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protein benchmarks score models on a fixed dataset. ALF scores the whole active-learning loop — how fast a method finds good designs as rounds progress.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Benchmark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it measures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Setting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ProteinGym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Mutation-effect prediction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/ supervised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 prediction accuracy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(fixed split)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 (ours)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Regret · best-found · recall · calibration vs round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active learning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3492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533095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open niche — and it maps directly onto ALF's mission: maximise information gained per expensive experiment.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Active Learning Benchmarking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FOR USERS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experiments you can run on day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74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67128"/>
            <a:ext cx="566928" cy="566928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042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 shootout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vs UCB vs EI vs Thompson vs CoreSet on one dataset.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1874520"/>
            <a:ext cx="3474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167128"/>
            <a:ext cx="566928" cy="566928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3042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Surrogate comparison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36008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vs GP vs ESM-2 under the same acquisition policy.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74736" y="1874520"/>
            <a:ext cx="3474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2167128"/>
            <a:ext cx="566928" cy="566928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30428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34856" y="21488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fitness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49056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Single-round prediction baseline across FLIP / ProteinGym.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468880" y="3977640"/>
            <a:ext cx="3474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0" y="4270248"/>
            <a:ext cx="566928" cy="566928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440740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429000" y="4251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 screen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743200" y="4937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ESM-2 pseudo-likelihood ranking with no training.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281928" y="3977640"/>
            <a:ext cx="3474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56248" y="4270248"/>
            <a:ext cx="566928" cy="566928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4407408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42048" y="4251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Beat the baseline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556248" y="49377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your tool, run the suite, see where you land.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Active Learning Benchmarking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recorded and plotted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937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acquisition round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Best-found-so-far (running max of oracle labels)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&amp; simple regret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/ top-N% recall of the true elites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accuracy: Spearman, Pearson, MSE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ECE, coverage, interval width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ask / tell wall-clock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874520"/>
            <a:ext cx="5897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0" y="2057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Best-found vs round (aggregated over seeds)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897880" y="246888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Active Learning Benchmarking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thin layer on top of what already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109960" cy="11430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6654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alf-benchmark  (new)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· BenchmarkProblem / Suite / Method · Runner · results · plots · alf-bench CLI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109960" cy="1143000"/>
          </a:xfrm>
          <a:prstGeom prst="rect">
            <a:avLst/>
          </a:prstGeom>
          <a:solidFill>
            <a:srgbClr val="12314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39242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alf-tools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86791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· GP · ESM-2 · Chemprop · GFP / FLIP / ProteinGym / GuacaMol · UCB / EI / TS / CoreSet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109960" cy="1143000"/>
          </a:xfrm>
          <a:prstGeom prst="rect">
            <a:avLst/>
          </a:prstGeom>
          <a:solidFill>
            <a:srgbClr val="0B2138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71830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alf-core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51937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BaseDataset · BaseModel · Optimizer · Oracle · Surrogate · DesignTask / SupervisedTask · StateLogger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66960" y="309067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 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966960" y="441655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 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lives in a separate package — no changes forced on core or tools. One benchmark replication = one task.run().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Active Learning Benchmarking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THE MOVING PARTS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benchmark components fit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2331720"/>
          </a:xfrm>
          <a:prstGeom prst="roundRect">
            <a:avLst>
              <a:gd name="adj" fmla="val 3137"/>
            </a:avLst>
          </a:prstGeom>
          <a:solidFill>
            <a:srgbClr val="0B2138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BenchmarkSuite</a:t>
            </a:r>
            <a:pPr indent="0" marL="0">
              <a:buNone/>
            </a:pPr>
            <a:r>
              <a:rPr lang="en-US" sz="13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versioned &amp; citable — freezes a set of Problems so scores stay comparable (e.g. alf-protein-v1)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4983480" cy="1508760"/>
          </a:xfrm>
          <a:prstGeom prst="rect">
            <a:avLst/>
          </a:prstGeom>
          <a:solidFill>
            <a:srgbClr val="12314F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94560"/>
            <a:ext cx="73152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BenchmarkProblem  ·  WHAT we optimise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67004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 split + problem_type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= [0, 1, 2, 3, 4]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primary_metric → defines “success”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06440" y="2606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6446520" y="2194560"/>
            <a:ext cx="4983480" cy="1508760"/>
          </a:xfrm>
          <a:prstGeom prst="rect">
            <a:avLst/>
          </a:prstGeom>
          <a:solidFill>
            <a:srgbClr val="12314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2194560"/>
            <a:ext cx="73152" cy="1508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BenchmarkMethod  ·  HOW we optimise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267004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model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 · search · oracle (offline / online)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num_acq_rounds, acq_batch_size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59352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 expands  Problem × Method × seed  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3383280" cy="14173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BenchmarkRunner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98348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cell = one task.run() · resumable, skips finished cells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34840" y="4343400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replication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63440" y="498348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metrics.csv + manifest.json (configs, git SHA, versions)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21040" y="4343400"/>
            <a:ext cx="3337560" cy="1417320"/>
          </a:xfrm>
          <a:prstGeom prst="rect">
            <a:avLst/>
          </a:prstGeom>
          <a:solidFill>
            <a:srgbClr val="0B2138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49640" y="45262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BenchmarkResults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49640" y="4983480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± CI · significance · leaderboard · AL curves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31920" y="47548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818120" y="47548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Active Learning Benchmarking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EXTENSIBILITY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tool without touching ALF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packages register components through Python entry-points. The registry discovers them at runtime — your model becomes a first-class benchmark citizen with zero coupling to alf-benchmark.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583680" cy="3200400"/>
          </a:xfrm>
          <a:prstGeom prst="rect">
            <a:avLst/>
          </a:prstGeom>
          <a:solidFill>
            <a:srgbClr val="071726"/>
          </a:solidFill>
          <a:ln w="12700">
            <a:solidFill>
              <a:srgbClr val="1E4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8892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pyproject.toml of your package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[project.entry-points."alf.models"]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my_transformer = "mypkg.models:MyModel"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[project.entry-points."alf.acquisition_functions"]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my_acq = "mypkg.acq:MyAcquisition"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06640" y="2606040"/>
            <a:ext cx="4251960" cy="3200400"/>
          </a:xfrm>
          <a:prstGeom prst="rect">
            <a:avLst/>
          </a:prstGeom>
          <a:solidFill>
            <a:srgbClr val="12314F"/>
          </a:solidFill>
          <a:ln w="12700">
            <a:solidFill>
              <a:srgbClr val="1E4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groups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0" y="324612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alf.models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alf.datasets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alf.acquisition_functions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alf.searches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alf.oracles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Active Learning Benchmarking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— TWO ENTRY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Config-as-code for power users, YAML + CLI for everyone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121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(pydantic)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2606040"/>
            <a:ext cx="5029200" cy="3108960"/>
          </a:xfrm>
          <a:prstGeom prst="rect">
            <a:avLst/>
          </a:prstGeom>
          <a:solidFill>
            <a:srgbClr val="071726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78892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alf_benchmark import Runner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 = BenchmarkConfig(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problem="flip-gb1",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models=["cnn","gp"],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acq=["ucb","greedy"],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seeds=[0,1,2,3,4])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Runner(cfg).run()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94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0" y="21214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YAML + CLI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92240" y="2606040"/>
            <a:ext cx="4937760" cy="1965960"/>
          </a:xfrm>
          <a:prstGeom prst="rect">
            <a:avLst/>
          </a:prstGeom>
          <a:solidFill>
            <a:srgbClr val="071726"/>
          </a:solidFill>
          <a:ln/>
        </p:spPr>
      </p:sp>
      <p:sp>
        <p:nvSpPr>
          <p:cNvPr id="13" name="Text 9"/>
          <p:cNvSpPr/>
          <p:nvPr/>
        </p:nvSpPr>
        <p:spPr>
          <a:xfrm>
            <a:off x="6675120" y="27432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8B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benchmark.yaml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 flip-gb1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models: [cnn, gp]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acq: [ucb, greedy]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seeds: [0, 1, 2, 3, 4]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92240" y="4754880"/>
            <a:ext cx="4937760" cy="914400"/>
          </a:xfrm>
          <a:prstGeom prst="rect">
            <a:avLst/>
          </a:prstGeom>
          <a:solidFill>
            <a:srgbClr val="0B2138"/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0" y="48920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alf-bench run benchmark.yaml
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alf-bench plot results/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Active Learning Benchmarking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 · 12 PRs · usability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109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2103120" cy="9326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208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9514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Usability core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88920" y="2020824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PR1–PR5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43400" y="2020824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registry, configs+seeding, Problem/Method, Runner + result schema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11109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907792"/>
            <a:ext cx="2103120" cy="9326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540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32841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305409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PR6–PR7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43400" y="3054096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Aggregation, bootstrap CI, significance, leaderboard, AL-curve plots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11109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941064"/>
            <a:ext cx="2103120" cy="93268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87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3616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 &amp; CLI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88920" y="408736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PR8–PR9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43400" y="4087368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loader + alf-bench command-line wrapper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974336"/>
            <a:ext cx="111099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974336"/>
            <a:ext cx="2103120" cy="932688"/>
          </a:xfrm>
          <a:prstGeom prst="rect">
            <a:avLst/>
          </a:prstGeom>
          <a:solidFill>
            <a:srgbClr val="0B213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120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394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NeurIPS artifacts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88920" y="5120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PR10–PR12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43400" y="51206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alf-protein-v1 suite, reference baselines + LEADERBOARD, dataset cards &amp; tutorial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Active Learning Benchmarking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Greenlight Phase 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10607040" cy="914400"/>
          </a:xfrm>
          <a:prstGeom prst="rect">
            <a:avLst/>
          </a:prstGeom>
          <a:solidFill>
            <a:srgbClr val="12314F"/>
          </a:solidFill>
          <a:ln w="12700">
            <a:solidFill>
              <a:srgbClr val="1E436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3288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8600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alf-benchmark package &amp; phased plan (12 PRs).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3364992"/>
            <a:ext cx="10607040" cy="914400"/>
          </a:xfrm>
          <a:prstGeom prst="rect">
            <a:avLst/>
          </a:prstGeom>
          <a:solidFill>
            <a:srgbClr val="12314F"/>
          </a:solidFill>
          <a:ln w="12700">
            <a:solidFill>
              <a:srgbClr val="1E436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6118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364992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reviewers for PR1–PR5 (the usability core).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77240" y="4443984"/>
            <a:ext cx="10607040" cy="914400"/>
          </a:xfrm>
          <a:prstGeom prst="rect">
            <a:avLst/>
          </a:prstGeom>
          <a:solidFill>
            <a:srgbClr val="12314F"/>
          </a:solidFill>
          <a:ln w="12700">
            <a:solidFill>
              <a:srgbClr val="1E436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69087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4443984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NeurIPS D&amp;B as the Phase-4 target &amp; timeline.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first. The paper follows the community.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 · Active Learning Benchmarking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ALF Benchmarking Layer</dc:title>
  <dc:subject>PptxGenJS Presentation</dc:subject>
  <dc:creator>ALF Team</dc:creator>
  <cp:lastModifiedBy>ALF Team</cp:lastModifiedBy>
  <cp:revision>1</cp:revision>
  <dcterms:created xsi:type="dcterms:W3CDTF">2026-06-10T08:16:53Z</dcterms:created>
  <dcterms:modified xsi:type="dcterms:W3CDTF">2026-06-10T08:16:53Z</dcterms:modified>
</cp:coreProperties>
</file>